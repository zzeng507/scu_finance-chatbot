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slide" Target="slides/slide9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Good evening everyone, we are </a:t>
            </a:r>
            <a:r>
              <a:rPr b="1" lang="en" sz="1050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Group 5</a:t>
            </a:r>
            <a:endParaRPr b="1" sz="1050">
              <a:solidFill>
                <a:srgbClr val="1A1C1E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and today we are presenting our </a:t>
            </a:r>
            <a:r>
              <a:rPr b="1" lang="en" sz="1050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Finance Advising Assistant</a:t>
            </a:r>
            <a:r>
              <a:rPr lang="en" sz="1050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.</a:t>
            </a:r>
            <a:endParaRPr sz="1050">
              <a:solidFill>
                <a:srgbClr val="1A1C1E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A1C1E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2f195e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2f195e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A1C1E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332992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332992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19e7e3e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19e7e3e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19e7e3e1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19e7e3e1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ec5e5b4d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ec5e5b4d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ec5e5b4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ec5e5b4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ec5e5b4d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ec5e5b4d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ec5e5b4d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ec5e5b4d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Finance Chatbot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3059"/>
            <a:ext cx="9144000" cy="4777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-290875" y="344275"/>
            <a:ext cx="2760900" cy="49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22857"/>
              </a:lnSpc>
              <a:spcBef>
                <a:spcPts val="1100"/>
              </a:spcBef>
              <a:spcAft>
                <a:spcPts val="0"/>
              </a:spcAft>
              <a:buSzPts val="1018"/>
              <a:buNone/>
            </a:pPr>
            <a:r>
              <a:rPr b="1" lang="en" sz="1171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⚡ Reactive &amp; Responsive</a:t>
            </a:r>
            <a:endParaRPr b="1" sz="1171">
              <a:solidFill>
                <a:srgbClr val="1A1C1E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-302974" lvl="1" marL="914400" rtl="0" algn="l">
              <a:lnSpc>
                <a:spcPct val="122857"/>
              </a:lnSpc>
              <a:spcBef>
                <a:spcPts val="1100"/>
              </a:spcBef>
              <a:spcAft>
                <a:spcPts val="0"/>
              </a:spcAft>
              <a:buClr>
                <a:srgbClr val="1A1C1E"/>
              </a:buClr>
              <a:buSzPts val="1171"/>
              <a:buFont typeface="Inter"/>
              <a:buChar char="○"/>
            </a:pPr>
            <a:r>
              <a:rPr lang="en" sz="1171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Built with </a:t>
            </a:r>
            <a:r>
              <a:rPr b="1" lang="en" sz="1171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React + Tailwind CSS</a:t>
            </a:r>
            <a:r>
              <a:rPr lang="en" sz="1171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for a clean, academic look (matches SCU branding).</a:t>
            </a:r>
            <a:endParaRPr sz="1171">
              <a:solidFill>
                <a:srgbClr val="1A1C1E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22857"/>
              </a:lnSpc>
              <a:spcBef>
                <a:spcPts val="1100"/>
              </a:spcBef>
              <a:spcAft>
                <a:spcPts val="0"/>
              </a:spcAft>
              <a:buSzPts val="1018"/>
              <a:buNone/>
            </a:pPr>
            <a:r>
              <a:rPr b="1" lang="en" sz="1171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💬 Streaming Interaction</a:t>
            </a:r>
            <a:endParaRPr b="1" sz="1171">
              <a:solidFill>
                <a:srgbClr val="1A1C1E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-302974" lvl="1" marL="914400" rtl="0" algn="l">
              <a:lnSpc>
                <a:spcPct val="122857"/>
              </a:lnSpc>
              <a:spcBef>
                <a:spcPts val="1100"/>
              </a:spcBef>
              <a:spcAft>
                <a:spcPts val="0"/>
              </a:spcAft>
              <a:buClr>
                <a:srgbClr val="1A1C1E"/>
              </a:buClr>
              <a:buSzPts val="1171"/>
              <a:buFont typeface="Inter"/>
              <a:buChar char="○"/>
            </a:pPr>
            <a:r>
              <a:rPr lang="en" sz="1171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Implemented "Typewriter effect" to reduce perceived latency.</a:t>
            </a:r>
            <a:endParaRPr sz="1171">
              <a:solidFill>
                <a:srgbClr val="1A1C1E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22857"/>
              </a:lnSpc>
              <a:spcBef>
                <a:spcPts val="1100"/>
              </a:spcBef>
              <a:spcAft>
                <a:spcPts val="0"/>
              </a:spcAft>
              <a:buSzPts val="1018"/>
              <a:buNone/>
            </a:pPr>
            <a:r>
              <a:rPr b="1" lang="en" sz="1171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🛡️ Error Handling</a:t>
            </a:r>
            <a:endParaRPr b="1" sz="1171">
              <a:solidFill>
                <a:srgbClr val="1A1C1E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-302974" lvl="1" marL="914400" rtl="0" algn="l">
              <a:lnSpc>
                <a:spcPct val="122857"/>
              </a:lnSpc>
              <a:spcBef>
                <a:spcPts val="1100"/>
              </a:spcBef>
              <a:spcAft>
                <a:spcPts val="0"/>
              </a:spcAft>
              <a:buClr>
                <a:srgbClr val="1A1C1E"/>
              </a:buClr>
              <a:buSzPts val="1171"/>
              <a:buFont typeface="Inter"/>
              <a:buChar char="○"/>
            </a:pPr>
            <a:r>
              <a:rPr lang="en" sz="1171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Real-time connection status check (Alerts user if Backend is offline).</a:t>
            </a:r>
            <a:endParaRPr sz="1865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2100" y="540200"/>
            <a:ext cx="6781624" cy="406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Data Processing and Chunking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Screenshot 2025-12-10 at 4.29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70175"/>
            <a:ext cx="3251750" cy="4525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 title="Screenshot 2025-12-10 at 4.30.46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1750" y="2482900"/>
            <a:ext cx="5587451" cy="252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Screenshot 2025-12-10 at 4.44.4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51750" y="570175"/>
            <a:ext cx="4710524" cy="163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</a:t>
            </a:r>
            <a:endParaRPr/>
          </a:p>
        </p:txBody>
      </p:sp>
      <p:pic>
        <p:nvPicPr>
          <p:cNvPr id="82" name="Google Shape;82;p17" title="Screenshot 2025-12-10 at 4.32.2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0425"/>
            <a:ext cx="6902301" cy="2110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Screenshot 2025-12-10 at 4.33.2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771150"/>
            <a:ext cx="6953450" cy="237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Search with FAISS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Stored all embeddings in a </a:t>
            </a:r>
            <a:r>
              <a:rPr b="1" lang="en" sz="1100">
                <a:solidFill>
                  <a:schemeClr val="dk1"/>
                </a:solidFill>
              </a:rPr>
              <a:t>FAISS L2 vector index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For each user question: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Embed the query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Search for top-k similar chunks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Retrieved chunks serve as context for the answer.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250" y="3106176"/>
            <a:ext cx="7626451" cy="15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187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Chatbot with Retrieval-Augmented Generation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205650" y="897738"/>
            <a:ext cx="8520600" cy="1939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Built a domain-specific chatbot using a </a:t>
            </a:r>
            <a:r>
              <a:rPr b="1" lang="en" sz="1600">
                <a:solidFill>
                  <a:schemeClr val="dk1"/>
                </a:solidFill>
              </a:rPr>
              <a:t>frontend–backend architecture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Backend implements a full </a:t>
            </a:r>
            <a:r>
              <a:rPr b="1" lang="en" sz="1600">
                <a:solidFill>
                  <a:schemeClr val="dk1"/>
                </a:solidFill>
              </a:rPr>
              <a:t>RAG pipeline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Goal: ensure accurate answers grounded in our own documents.</a:t>
            </a:r>
            <a:endParaRPr sz="2300">
              <a:solidFill>
                <a:schemeClr val="dk1"/>
              </a:solidFill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95" y="2633625"/>
            <a:ext cx="3061576" cy="216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0750" y="2633625"/>
            <a:ext cx="4185974" cy="2169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5775" y="408125"/>
            <a:ext cx="6876400" cy="404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266100"/>
            <a:ext cx="8520600" cy="7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server.py handles the backend logic: runs the RAG pipeline, builds the prompt, calls DeepSeek-Chat, and returns the response to the frontend.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